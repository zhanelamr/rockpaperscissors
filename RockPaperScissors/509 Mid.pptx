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8B447B-57AF-43E0-A2B6-A17E6DD3B481}">
  <a:tblStyle styleId="{E78B447B-57AF-43E0-A2B6-A17E6DD3B4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5b08839c68ba8f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5b08839c68ba8f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5b08839c68ba8f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5b08839c68ba8f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b08839c68ba8f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5b08839c68ba8f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17f0f7acbbc48ef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17f0f7acbbc48ef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7f0f7acbbc48ef2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17f0f7acbbc48ef2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5b08839c68ba8f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5b08839c68ba8f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b08839c68ba8f1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5b08839c68ba8f1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5b08839c68ba8f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5b08839c68ba8f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b08839c68ba8f1f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5b08839c68ba8f1f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b08839c68ba8f1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5b08839c68ba8f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44fcfca7df8edf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444fcfca7df8edf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our Team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03058" y="1587850"/>
            <a:ext cx="1600500" cy="1600500"/>
          </a:xfrm>
          <a:prstGeom prst="rect">
            <a:avLst/>
          </a:prstGeom>
          <a:solidFill>
            <a:schemeClr val="lt2"/>
          </a:solidFill>
          <a:ln cap="flat" cmpd="sng" w="11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1"/>
          </a:p>
        </p:txBody>
      </p:sp>
      <p:sp>
        <p:nvSpPr>
          <p:cNvPr id="62" name="Google Shape;62;p14"/>
          <p:cNvSpPr/>
          <p:nvPr/>
        </p:nvSpPr>
        <p:spPr>
          <a:xfrm>
            <a:off x="1987426" y="1587850"/>
            <a:ext cx="1600500" cy="1600500"/>
          </a:xfrm>
          <a:prstGeom prst="rect">
            <a:avLst/>
          </a:prstGeom>
          <a:solidFill>
            <a:schemeClr val="lt2"/>
          </a:solidFill>
          <a:ln cap="flat" cmpd="sng" w="11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1"/>
          </a:p>
        </p:txBody>
      </p:sp>
      <p:sp>
        <p:nvSpPr>
          <p:cNvPr id="63" name="Google Shape;63;p14"/>
          <p:cNvSpPr/>
          <p:nvPr/>
        </p:nvSpPr>
        <p:spPr>
          <a:xfrm>
            <a:off x="3771793" y="1587850"/>
            <a:ext cx="1600500" cy="1600500"/>
          </a:xfrm>
          <a:prstGeom prst="rect">
            <a:avLst/>
          </a:prstGeom>
          <a:solidFill>
            <a:schemeClr val="lt2"/>
          </a:solidFill>
          <a:ln cap="flat" cmpd="sng" w="11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1"/>
          </a:p>
        </p:txBody>
      </p:sp>
      <p:sp>
        <p:nvSpPr>
          <p:cNvPr id="64" name="Google Shape;64;p14"/>
          <p:cNvSpPr/>
          <p:nvPr/>
        </p:nvSpPr>
        <p:spPr>
          <a:xfrm>
            <a:off x="5556160" y="1587850"/>
            <a:ext cx="1600500" cy="1600500"/>
          </a:xfrm>
          <a:prstGeom prst="rect">
            <a:avLst/>
          </a:prstGeom>
          <a:solidFill>
            <a:schemeClr val="lt2"/>
          </a:solidFill>
          <a:ln cap="flat" cmpd="sng" w="11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1"/>
          </a:p>
        </p:txBody>
      </p:sp>
      <p:sp>
        <p:nvSpPr>
          <p:cNvPr id="65" name="Google Shape;65;p14"/>
          <p:cNvSpPr/>
          <p:nvPr/>
        </p:nvSpPr>
        <p:spPr>
          <a:xfrm>
            <a:off x="7340528" y="1587850"/>
            <a:ext cx="1600500" cy="1600500"/>
          </a:xfrm>
          <a:prstGeom prst="rect">
            <a:avLst/>
          </a:prstGeom>
          <a:solidFill>
            <a:schemeClr val="lt2"/>
          </a:solidFill>
          <a:ln cap="flat" cmpd="sng" w="11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1"/>
          </a:p>
        </p:txBody>
      </p:sp>
      <p:sp>
        <p:nvSpPr>
          <p:cNvPr id="66" name="Google Shape;66;p14"/>
          <p:cNvSpPr txBox="1"/>
          <p:nvPr/>
        </p:nvSpPr>
        <p:spPr>
          <a:xfrm>
            <a:off x="66663" y="3188369"/>
            <a:ext cx="1873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</a:rPr>
              <a:t>Sean DuBois</a:t>
            </a:r>
            <a:endParaRPr sz="1691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851030" y="3188369"/>
            <a:ext cx="1873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</a:rPr>
              <a:t>Megan Zhang</a:t>
            </a:r>
            <a:endParaRPr sz="1691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635398" y="3188369"/>
            <a:ext cx="1873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</a:rPr>
              <a:t>Zhanel Amralina</a:t>
            </a:r>
            <a:endParaRPr sz="1691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419765" y="3188369"/>
            <a:ext cx="1873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</a:rPr>
              <a:t>Jake Whiting</a:t>
            </a:r>
            <a:endParaRPr sz="1691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204133" y="3188369"/>
            <a:ext cx="18732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400" lIns="110400" spcFirstLastPara="1" rIns="110400" wrap="square" tIns="110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91">
                <a:solidFill>
                  <a:schemeClr val="dk1"/>
                </a:solidFill>
              </a:rPr>
              <a:t>Jordan Mars</a:t>
            </a:r>
            <a:endParaRPr sz="1691">
              <a:solidFill>
                <a:schemeClr val="dk1"/>
              </a:solidFill>
            </a:endParaRPr>
          </a:p>
        </p:txBody>
      </p:sp>
      <p:pic>
        <p:nvPicPr>
          <p:cNvPr id="71" name="Google Shape;71;p14" title="031281D1-8349-4ECE-8640-86ABBE43BE90_1_105_c.jpeg"/>
          <p:cNvPicPr preferRelativeResize="0"/>
          <p:nvPr/>
        </p:nvPicPr>
        <p:blipFill rotWithShape="1">
          <a:blip r:embed="rId3">
            <a:alphaModFix/>
          </a:blip>
          <a:srcRect b="0" l="0" r="0" t="21991"/>
          <a:stretch/>
        </p:blipFill>
        <p:spPr>
          <a:xfrm>
            <a:off x="1987375" y="1587852"/>
            <a:ext cx="1600525" cy="166467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Blot-situation recommendation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ging, disconnected systems are becoming less reliable causing patients, clinicians, and revenue to suffer.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5113675" y="1413174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972125" y="2285899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113675" y="2285899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972125" y="1413174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972125" y="3158619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113675" y="3158619"/>
            <a:ext cx="3058200" cy="72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1093575" y="1577875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231025" y="1577875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5231025" y="2437938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093575" y="2437925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1093575" y="3323320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231025" y="3323320"/>
            <a:ext cx="4077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579175" y="1577875"/>
            <a:ext cx="18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BLOT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579175" y="2450600"/>
            <a:ext cx="18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Agenda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579175" y="3323325"/>
            <a:ext cx="18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Meet the Team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720725" y="1577875"/>
            <a:ext cx="18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Background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720725" y="2450600"/>
            <a:ext cx="1844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Analysis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720725" y="3323325"/>
            <a:ext cx="206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Recommendation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06850" y="154200"/>
            <a:ext cx="87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CanyonCare's Systems Were Never 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Built To Work Together</a:t>
            </a:r>
            <a:endParaRPr b="1" sz="2500"/>
          </a:p>
        </p:txBody>
      </p:sp>
      <p:sp>
        <p:nvSpPr>
          <p:cNvPr id="106" name="Google Shape;106;p17"/>
          <p:cNvSpPr/>
          <p:nvPr/>
        </p:nvSpPr>
        <p:spPr>
          <a:xfrm>
            <a:off x="529850" y="1256525"/>
            <a:ext cx="2467800" cy="1787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3363900" y="1256525"/>
            <a:ext cx="2467800" cy="1787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6197925" y="1256525"/>
            <a:ext cx="2467800" cy="1787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96375" y="1407925"/>
            <a:ext cx="15156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1.1M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350350" y="1407925"/>
            <a:ext cx="12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8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3447150" y="1407925"/>
            <a:ext cx="12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38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834375" y="2211050"/>
            <a:ext cx="1377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home visits a year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554625" y="2211050"/>
            <a:ext cx="18441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branches in AZ and NM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6350350" y="2211050"/>
            <a:ext cx="2467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separate systems,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4 - 12 years old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529850" y="3372612"/>
            <a:ext cx="3773100" cy="1248375"/>
            <a:chOff x="529850" y="3599600"/>
            <a:chExt cx="3773100" cy="1021500"/>
          </a:xfrm>
        </p:grpSpPr>
        <p:sp>
          <p:nvSpPr>
            <p:cNvPr id="116" name="Google Shape;116;p17"/>
            <p:cNvSpPr/>
            <p:nvPr/>
          </p:nvSpPr>
          <p:spPr>
            <a:xfrm>
              <a:off x="529850" y="3599600"/>
              <a:ext cx="3773100" cy="1021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661950" y="3679900"/>
              <a:ext cx="2785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CareSched (Scheduling)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696375" y="4048400"/>
              <a:ext cx="31665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CC0000"/>
                  </a:solidFill>
                </a:rPr>
                <a:t>11 years old; vendor </a:t>
              </a:r>
              <a:r>
                <a:rPr lang="en" sz="1500">
                  <a:solidFill>
                    <a:srgbClr val="CC0000"/>
                  </a:solidFill>
                </a:rPr>
                <a:t>support</a:t>
              </a:r>
              <a:r>
                <a:rPr lang="en" sz="1500">
                  <a:solidFill>
                    <a:srgbClr val="CC0000"/>
                  </a:solidFill>
                </a:rPr>
                <a:t> ends in 20 months</a:t>
              </a:r>
              <a:endParaRPr sz="1500">
                <a:solidFill>
                  <a:srgbClr val="CC0000"/>
                </a:solidFill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4892625" y="3372412"/>
            <a:ext cx="3773100" cy="1248375"/>
            <a:chOff x="4892625" y="3599600"/>
            <a:chExt cx="3773100" cy="1021500"/>
          </a:xfrm>
        </p:grpSpPr>
        <p:sp>
          <p:nvSpPr>
            <p:cNvPr id="120" name="Google Shape;120;p17"/>
            <p:cNvSpPr/>
            <p:nvPr/>
          </p:nvSpPr>
          <p:spPr>
            <a:xfrm>
              <a:off x="4892625" y="3599600"/>
              <a:ext cx="3773100" cy="1021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4980875" y="3679900"/>
              <a:ext cx="27852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RevSure (Billing)</a:t>
              </a:r>
              <a:endParaRPr sz="1800">
                <a:solidFill>
                  <a:schemeClr val="dk1"/>
                </a:solidFill>
              </a:endParaRPr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5096100" y="4048400"/>
              <a:ext cx="31665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CC0000"/>
                  </a:solidFill>
                </a:rPr>
                <a:t>12 years old; vendor support ends in 28 months</a:t>
              </a:r>
              <a:endParaRPr sz="1500">
                <a:solidFill>
                  <a:srgbClr val="CC0000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171700" y="10025"/>
            <a:ext cx="87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Reliability is Failing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While Visits are Increasing</a:t>
            </a:r>
            <a:endParaRPr b="1" sz="2500"/>
          </a:p>
        </p:txBody>
      </p:sp>
      <p:sp>
        <p:nvSpPr>
          <p:cNvPr id="128" name="Google Shape;128;p18"/>
          <p:cNvSpPr/>
          <p:nvPr/>
        </p:nvSpPr>
        <p:spPr>
          <a:xfrm>
            <a:off x="4784725" y="1040563"/>
            <a:ext cx="3826200" cy="1553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77000" y="1040563"/>
            <a:ext cx="3826200" cy="1553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77000" y="2910263"/>
            <a:ext cx="3826200" cy="1553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4784725" y="2910263"/>
            <a:ext cx="3826200" cy="1553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7000" y="1168238"/>
            <a:ext cx="3826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Scheduling severity - 2+ incidents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4882025" y="1168238"/>
            <a:ext cx="3826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Mobile outage minutes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77000" y="3090438"/>
            <a:ext cx="38262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Calls per 1,000 visits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4744325" y="3052124"/>
            <a:ext cx="4434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First-pass clean claims (target ≥96%)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71225" y="1637813"/>
            <a:ext cx="19989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7 → 15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882025" y="1637813"/>
            <a:ext cx="2846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84</a:t>
            </a:r>
            <a:r>
              <a:rPr b="1" lang="en" sz="4000">
                <a:solidFill>
                  <a:srgbClr val="3C78D8"/>
                </a:solidFill>
              </a:rPr>
              <a:t> → 198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771225" y="3534338"/>
            <a:ext cx="28467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46</a:t>
            </a:r>
            <a:r>
              <a:rPr b="1" lang="en" sz="4000">
                <a:solidFill>
                  <a:srgbClr val="3C78D8"/>
                </a:solidFill>
              </a:rPr>
              <a:t> → 68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4819925" y="3534338"/>
            <a:ext cx="42828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3C78D8"/>
                </a:solidFill>
              </a:rPr>
              <a:t>95.1%</a:t>
            </a:r>
            <a:r>
              <a:rPr b="1" lang="en" sz="4000">
                <a:solidFill>
                  <a:srgbClr val="3C78D8"/>
                </a:solidFill>
              </a:rPr>
              <a:t> → 94.0%</a:t>
            </a:r>
            <a:endParaRPr b="1" sz="4000">
              <a:solidFill>
                <a:srgbClr val="3C78D8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77000" y="4588316"/>
            <a:ext cx="3166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</a:rPr>
              <a:t>Visits only increased 11%</a:t>
            </a:r>
            <a:endParaRPr sz="1500">
              <a:solidFill>
                <a:srgbClr val="CC0000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2944000" y="4588316"/>
            <a:ext cx="31665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31% of calls need 3+ systems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C0000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692800" y="4588325"/>
            <a:ext cx="3451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62% of clinicians re-enter data weekly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894125" y="4744175"/>
            <a:ext cx="81900" cy="90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648800" y="4764400"/>
            <a:ext cx="81900" cy="90900"/>
          </a:xfrm>
          <a:prstGeom prst="ellipse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3536200" y="2194075"/>
            <a:ext cx="8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+114%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7728725" y="2194075"/>
            <a:ext cx="8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+</a:t>
            </a:r>
            <a:r>
              <a:rPr lang="en">
                <a:solidFill>
                  <a:srgbClr val="CC0000"/>
                </a:solidFill>
              </a:rPr>
              <a:t>136</a:t>
            </a:r>
            <a:r>
              <a:rPr lang="en">
                <a:solidFill>
                  <a:srgbClr val="CC0000"/>
                </a:solidFill>
              </a:rPr>
              <a:t>%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536200" y="4063775"/>
            <a:ext cx="8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+</a:t>
            </a:r>
            <a:r>
              <a:rPr lang="en">
                <a:solidFill>
                  <a:srgbClr val="CC0000"/>
                </a:solidFill>
              </a:rPr>
              <a:t>48</a:t>
            </a:r>
            <a:r>
              <a:rPr lang="en">
                <a:solidFill>
                  <a:srgbClr val="CC0000"/>
                </a:solidFill>
              </a:rPr>
              <a:t>%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1</a:t>
            </a:r>
            <a:endParaRPr/>
          </a:p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9" title="chart1_weighted_tota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700" y="2084725"/>
            <a:ext cx="3857325" cy="200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281400" y="0"/>
            <a:ext cx="88626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2500"/>
              <a:t>Analysis 2</a:t>
            </a:r>
            <a:endParaRPr b="1" sz="2500"/>
          </a:p>
        </p:txBody>
      </p:sp>
      <p:sp>
        <p:nvSpPr>
          <p:cNvPr id="160" name="Google Shape;160;p20"/>
          <p:cNvSpPr txBox="1"/>
          <p:nvPr/>
        </p:nvSpPr>
        <p:spPr>
          <a:xfrm>
            <a:off x="302525" y="532425"/>
            <a:ext cx="826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Both B and C fix fragmentation and cost about the </a:t>
            </a:r>
            <a:r>
              <a:rPr lang="en" sz="1100">
                <a:solidFill>
                  <a:schemeClr val="dk2"/>
                </a:solidFill>
              </a:rPr>
              <a:t>same</a:t>
            </a:r>
            <a:r>
              <a:rPr lang="en" sz="1100">
                <a:solidFill>
                  <a:schemeClr val="dk2"/>
                </a:solidFill>
              </a:rPr>
              <a:t> over 5 years ($12M). The difference is risk.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63650" y="1169400"/>
            <a:ext cx="3762600" cy="68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Option B: Unified cloud suite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718325" y="1169400"/>
            <a:ext cx="3762600" cy="68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Option C: Composable (our pick)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94400" y="1996550"/>
            <a:ext cx="3422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Makes 5 risks worse: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Mobile sync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Business continuity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Change adoption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Revenue cycle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Vendor lock-in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18325" y="2082125"/>
            <a:ext cx="34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2</a:t>
            </a:r>
            <a:r>
              <a:rPr lang="en" sz="1200">
                <a:solidFill>
                  <a:schemeClr val="dk2"/>
                </a:solidFill>
              </a:rPr>
              <a:t> risks: privacy, governance drift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Keeps the apps clinicians already use  Replaces systems one at a time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Moderate confidence + month-12 gate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94400" y="3527225"/>
            <a:ext cx="568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fixes the problem without putting a single home visit at risk.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171" name="Google Shape;17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Implement the Composable Platform and modernize the iPaaS and API.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311700" y="24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Current System Landscape </a:t>
            </a:r>
            <a:r>
              <a:rPr b="1" lang="en" sz="2300"/>
              <a:t>Between Nov 2025 and Oct 2026</a:t>
            </a:r>
            <a:endParaRPr b="1" sz="2300"/>
          </a:p>
        </p:txBody>
      </p:sp>
      <p:graphicFrame>
        <p:nvGraphicFramePr>
          <p:cNvPr id="189" name="Google Shape;189;p24"/>
          <p:cNvGraphicFramePr/>
          <p:nvPr/>
        </p:nvGraphicFramePr>
        <p:xfrm>
          <a:off x="952500" y="896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{E78B447B-57AF-43E0-A2B6-A17E6DD3B481}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C78D8"/>
                          </a:solidFill>
                        </a:rPr>
                        <a:t>Metric</a:t>
                      </a:r>
                      <a:endParaRPr b="1" sz="1300">
                        <a:solidFill>
                          <a:srgbClr val="3C78D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C78D8"/>
                          </a:solidFill>
                        </a:rPr>
                        <a:t>Nov 2025 → Oct 2026</a:t>
                      </a:r>
                      <a:endParaRPr b="1" sz="1300">
                        <a:solidFill>
                          <a:srgbClr val="3C78D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C78D8"/>
                          </a:solidFill>
                        </a:rPr>
                        <a:t>Change</a:t>
                      </a:r>
                      <a:endParaRPr b="1" sz="1300">
                        <a:solidFill>
                          <a:srgbClr val="3C78D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Completed visits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88,700 → 98,100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11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Scheduling severity- 2+ incidents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 → 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114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Mobile outage minutes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84 → 198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136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Failed interface jobs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420 → 684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63%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Potential duplicate-patient events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 → 129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74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Identity/access tickets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118 → 176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49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Calls per 1,000 visits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 → 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+</a:t>
                      </a:r>
                      <a:r>
                        <a:rPr lang="en"/>
                        <a:t>48</a:t>
                      </a:r>
                      <a:r>
                        <a:rPr lang="en"/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First-pass clean claim 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95.1% → 94.0%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−</a:t>
                      </a:r>
                      <a:r>
                        <a:rPr lang="en"/>
                        <a:t>1.1</a:t>
                      </a:r>
                      <a:r>
                        <a:rPr lang="en"/>
                        <a:t> pts (target ≥96%)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